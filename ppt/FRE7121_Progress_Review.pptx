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NYU FRE7121 · ETF MARKET MICROSTRUCTURE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Making &amp;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40080" y="260604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Statistical Arbitrage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40080" y="38404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XLK minute-level study with explicit bid/ask execution accounting,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parameter heatmaps, and walk-forward selection discipline.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50292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640080" y="5577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tech-name universe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480560" y="50292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mo.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4480560" y="5577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minute-level data (Jan–Mar 2026)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321040" y="50292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219K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8321040" y="5577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audited trade-log rows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6217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review · Spring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findings that drive the rest of this deck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11880" cy="4480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73152" cy="4480560"/>
          </a:xfrm>
          <a:prstGeom prst="rect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83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E12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22960" y="242316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Pair trading fails OOS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246120"/>
            <a:ext cx="32461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can pick z-score rules with positive net P&amp;L on Feb data, but every pair turns red in March under consistent bid/ask boundary cost accounting. Range: -225 to -641 bps.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1554480"/>
            <a:ext cx="3611880" cy="4480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43400" y="1554480"/>
            <a:ext cx="73152" cy="44805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1783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617720" y="242316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Execution model &gt; parameters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17720" y="3246120"/>
            <a:ext cx="32461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XLK-ORCL midpoint shows +3,228 bps. Same trades under correct bid/ask audit: -225 bps. The conclusion flips entirely on the fill model — not on the z-score threshold.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38160" y="1554480"/>
            <a:ext cx="3611880" cy="4480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38160" y="1554480"/>
            <a:ext cx="73152" cy="44805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0" y="1783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8412480" y="242316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XLK-only timing survives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12480" y="3246120"/>
            <a:ext cx="32461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basket premium as a fair-value signal but trading only the XLK leg avoids paying multi-leg hedge costs. March OOS net: +638 bps after explicit bid/ask fills.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61722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an honest negative result is the contribution. The framework now shows when a strategy is real and when it's an accounting artifact.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FRE7121 — XLK Statistical Arbitrage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Universe, data, and four nested experiments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120640" cy="45720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373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UNIVERSE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201168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XLK + 8 tech constituents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7240" y="260604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AAPL  ·  MSFT  ·  NVDA  ·  AVGO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ORCL  ·  CRM  ·  AMD  ·  CSCO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3520440"/>
            <a:ext cx="457200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6576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MINUTE-LEVEL DATA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3931920"/>
            <a:ext cx="47548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WRDS TAQ quote + trade panel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23,790 valid minutes per symbol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bid, ask, bid size, ask size — full NBBO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/ Feb / Mar 2026 — clean three-way split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0" y="155448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STACK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0" y="1874520"/>
            <a:ext cx="566928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80760" y="2057400"/>
            <a:ext cx="594360" cy="5943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80760" y="2057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858000" y="19842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Sparse Basket Replication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0" y="23774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ETF-vs-basket residual mean-reversion (legacy)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43600" y="2953512"/>
            <a:ext cx="566928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3136392"/>
            <a:ext cx="594360" cy="5943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0760" y="313639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858000" y="3063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Pair Trading on 8 Names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858000" y="345643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Per-name hedge β, z-score on residual spread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943600" y="4032504"/>
            <a:ext cx="566928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80760" y="4215384"/>
            <a:ext cx="594360" cy="5943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80760" y="421538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858000" y="41422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Z-Score Heatmap &amp; Risk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58000" y="4535424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10×6 entry/exit grid, max-holding, stop-z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943600" y="5111496"/>
            <a:ext cx="566928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80760" y="5294376"/>
            <a:ext cx="594360" cy="5943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80760" y="529437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858000" y="522122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XLK-Only Timing Extension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858000" y="5614416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basket premium as signal, trade ETF only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FRE7121 — XLK Statistical Arbitrage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Pair construction and walk-forward discipline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CONSTRUCTION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486400" cy="25603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057400"/>
            <a:ext cx="5029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r_XLK,t  =  β · r_stock,t  +  ε_t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spread_t = Σ ε_t   (cumulative residual)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z_t = rolling z-score(spread_t)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&gt; +entry_z   →   short XLK,  long β·stock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&lt; −entry_z   →   long  XLK,  short β·stock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4617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RULES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4937760"/>
            <a:ext cx="5486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crosses the exit band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max-holding minutes elapsed (30/60/120/240)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end-of-day flat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stop-loss diagnostic at 3.5 / 4.0 / 4.5 / 5.0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55080" y="15544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WALK-FORWARD SPLIT</a:t>
            </a:r>
            <a:endParaRPr lang="en-US" sz="1000" dirty="0"/>
          </a:p>
        </p:txBody>
      </p:sp>
      <p:pic>
        <p:nvPicPr>
          <p:cNvPr id="10" name="Image 0" descr="/home/claude/pres/figures/gen_data_spli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80760" y="1874520"/>
            <a:ext cx="5760720" cy="15544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355080" y="36576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DISCIPLINE MATTERS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080760" y="3977640"/>
            <a:ext cx="5760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estimates β and diagnostics — NEVER touches z-score search.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selects entry / exit / max-holding from a 6,840-cell grid.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is held out — strategy parameters cannot leak into it.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selection_audit.csv tags every row as final-claim or diagnostic-only.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FRE7121 — XLK Statistical Arbitrage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1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SINCE LAST REVIEW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changed,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640080" y="26060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why the conclusion is sharper now.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3749040"/>
            <a:ext cx="5486400" cy="0"/>
          </a:xfrm>
          <a:prstGeom prst="line">
            <a:avLst/>
          </a:prstGeom>
          <a:noFill/>
          <a:ln w="1905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9776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Professor's last guidance focused on five items — all five are now implemented and audited end-to-end: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4617720"/>
            <a:ext cx="210312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6177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high-frequency pair trading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880360" y="4617720"/>
            <a:ext cx="210312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80360" y="46177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z-score heatmaps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120640" y="4617720"/>
            <a:ext cx="210312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0" y="46177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smaller thresholds than 3.5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360920" y="4617720"/>
            <a:ext cx="210312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60920" y="46177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stop / risk controls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601200" y="4617720"/>
            <a:ext cx="210312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0" y="46177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explicit transaction-cost diagnostics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FRE7121 — XLK Statistical Arbitrage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01 — PAIR TRADING + PARAMETER HEATMAP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Replacing the single z=3.5 rule with a full 10×6 grid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4206240" cy="4663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73152" cy="46634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37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WRONG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201168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rule used entry_z = 3.5 only. That produced very few trades and made every result a 1–2 lucky-window outcome.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32461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NEW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3520440"/>
            <a:ext cx="38404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entry_z ∈ {1.0 … 3.5}, 10 levels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exit_z ∈ {0.0 … 1.25}, 6 levels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constraint: exit_z &lt; entry_z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max-holding ∈ {30,60,120,240, none}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pairs × 5 max-holding × 60 z combos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6,840 audited cells, ~219K trades</a:t>
            </a:r>
            <a:endParaRPr lang="en-US" sz="1200" dirty="0"/>
          </a:p>
        </p:txBody>
      </p:sp>
      <p:pic>
        <p:nvPicPr>
          <p:cNvPr id="10" name="Image 0" descr="/home/claude/pres/figures/heatmap_validation_net_bp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0" y="1508760"/>
            <a:ext cx="6858000" cy="46634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0" y="617220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XLK-NVDA validation surface — green islands cluster near (entry≈2.0, exit≈1.0). The selection picks the local maxima here.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FRE7121 — XLK Statistical Arbitrage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02 — EXPLICIT BID/ASK EXECUTION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midpoint backtest to NBBO-aware fills</a:t>
            </a:r>
            <a:endParaRPr lang="en-US" sz="2600" dirty="0"/>
          </a:p>
        </p:txBody>
      </p:sp>
      <p:pic>
        <p:nvPicPr>
          <p:cNvPr id="4" name="Image 0" descr="/home/claude/pres/figures/midpoint_vs_bidask_execution_comparis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508760"/>
            <a:ext cx="7132320" cy="3931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48640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XLK-ORCL trade timestamps, three execution models, same trades.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7955280" y="15544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EXECUTION MODELS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955280" y="1874520"/>
            <a:ext cx="39319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955280" y="1874520"/>
            <a:ext cx="73152" cy="128016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138160" y="1965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Midpoint, no cost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138160" y="233172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+3,228 bps test net. Looks tradeable. It isn't.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955280" y="3291840"/>
            <a:ext cx="39319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955280" y="3291840"/>
            <a:ext cx="73152" cy="12801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138160" y="3383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Half-spread approx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138160" y="37490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Penalises every entry/exit by 0.5×spread. Goes negative.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955280" y="4709160"/>
            <a:ext cx="39319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955280" y="4709160"/>
            <a:ext cx="73152" cy="128016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138160" y="4800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Bid/ask boundary fills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138160" y="516636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at ask, sell at bid, on the actual NBBO snapshot at entry/exit/position-change. The honest number.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48640" y="594360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trades. Same data. The fill model is the entire story.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FRE7121 — XLK Statistical Arbitrage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03 — AUDIT TRAIL AT SCALE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claim now has a row that says: selected without seeing March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97480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2697480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82880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6,840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85800" y="26974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cells evaluated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10712" y="1554480"/>
            <a:ext cx="2697480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10712" y="1554480"/>
            <a:ext cx="2697480" cy="109728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47872" y="182880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219,137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547872" y="26974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trade-log rows logged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72784" y="1554480"/>
            <a:ext cx="2697480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72784" y="1554480"/>
            <a:ext cx="2697480" cy="1097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9944" y="182880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409944" y="26974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leaderboards rebuilt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34856" y="1554480"/>
            <a:ext cx="2697480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34856" y="1554480"/>
            <a:ext cx="2697480" cy="109728"/>
          </a:xfrm>
          <a:prstGeom prst="rect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72016" y="182880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E12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9272016" y="26974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selection_audit.csv (truth)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3611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GRID CELL NOW RECORDS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3931920"/>
            <a:ext cx="26974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406908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/ cost / net bps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rate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holding minutes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10712" y="3931920"/>
            <a:ext cx="26974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93592" y="406908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drawdown bps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count + turnover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Sharpe-style t-stat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72784" y="3931920"/>
            <a:ext cx="26974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55664" y="406908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max-holding setting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stop diagnostic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model tag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134856" y="3931920"/>
            <a:ext cx="26974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17736" y="406908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&amp; exit timestamps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(long/short)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reason (z-cross / max-hold / EOD)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FRE7121 — XLK Statistical Arbitrage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FINDING 01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XLK-ORCL: why the original +10,249 bps result was not real</a:t>
            </a:r>
            <a:endParaRPr lang="en-US" sz="2600" dirty="0"/>
          </a:p>
        </p:txBody>
      </p:sp>
      <p:pic>
        <p:nvPicPr>
          <p:cNvPr id="4" name="Image 0" descr="/home/claude/pres/figures/gen_orcl_audi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508760"/>
            <a:ext cx="7315200" cy="3931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092440" y="1554480"/>
            <a:ext cx="3794760" cy="1965960"/>
          </a:xfrm>
          <a:prstGeom prst="rect">
            <a:avLst/>
          </a:prstGeom>
          <a:solidFill>
            <a:srgbClr val="FEE2E2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0" y="169164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— METHOD_UPDATE.md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229600" y="201168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E12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+10,249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8229600" y="283464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bps March test (mismatched accounting)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092440" y="3657600"/>
            <a:ext cx="3794760" cy="1965960"/>
          </a:xfrm>
          <a:prstGeom prst="rect">
            <a:avLst/>
          </a:prstGeom>
          <a:solidFill>
            <a:srgbClr val="CCFBF1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0" y="379476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1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CONSISTENT BID/ASK AUDIT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229600" y="411480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15E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−225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8229600" y="493776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1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bps March test  (gross +510, cost 735)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48640" y="566928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the prior bid/ask version paired midpoint-window gross P&amp;L with one-sided fill cost, double-counting half the spread. The corrected audit measures gross P&amp;L on the same fill timestamps it charges costs at.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FRE7121 — XLK Statistical Arbitrage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FINDING 02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8 pairs go red OOS — selection bias was doing the work</a:t>
            </a:r>
            <a:endParaRPr lang="en-US" sz="2600" dirty="0"/>
          </a:p>
        </p:txBody>
      </p:sp>
      <p:pic>
        <p:nvPicPr>
          <p:cNvPr id="4" name="Image 0" descr="/home/claude/pres/figures/gen_pair_val_vs_tes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63040"/>
            <a:ext cx="7772400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503920" y="1554480"/>
            <a:ext cx="3383280" cy="402336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0" y="17373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686800" y="20574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Validation alpha was selection bias.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0" y="2788920"/>
            <a:ext cx="3108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selects from 6,840 cells → some look great even by chance.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doesn't replay February's quote / spread environment.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 on single names (CRM 138bps, AVGO 92bps) eat any midpoint edge.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trades ≠ more alpha — CSCO has the most trades and the worst loss.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5852160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chart: green = February validation net bps; red = March OOS. The flip is universal across every pair after consistent execution accounting.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FRE7121 — XLK Statistical Arbitrage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PAIR TRADES LOSE MONEY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cost arithmetic of a 5-bps ETF leg + 50-bps stock leg</a:t>
            </a:r>
            <a:endParaRPr lang="en-US" sz="2600" dirty="0"/>
          </a:p>
        </p:txBody>
      </p:sp>
      <p:pic>
        <p:nvPicPr>
          <p:cNvPr id="4" name="Image 0" descr="/home/claude/pres/figures/gen_spread_profi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508760"/>
            <a:ext cx="7315200" cy="3931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092440" y="1554480"/>
            <a:ext cx="3794760" cy="3931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092440" y="1554480"/>
            <a:ext cx="73152" cy="3931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75320" y="173736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ARITHMETIC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275320" y="201168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Round-trip on a 2-leg pair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75320" y="2468880"/>
            <a:ext cx="3520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XLK leg:    ~ 4 bps × 2 = 8 bps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Stock leg:  ~50 bps × 2 = 100 bps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Round-trip cost ≈ 108 bps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 residual move ≈ 50–80 bps.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Edge &lt; cost on most trades.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275320" y="493776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a parameter problem. It's a microstructure problem.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5852160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XLK quotes are tight because liquidity providers can hedge the basket. Single-name spreads are 5–40× wider — and the strategy must pay both.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FRE7121 — XLK Statistical Arbitrage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SURVIVED THE AUDIT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XLK-only timing: trade only the cheap leg, basket as signal</a:t>
            </a:r>
            <a:endParaRPr lang="en-US" sz="2600" dirty="0"/>
          </a:p>
        </p:txBody>
      </p:sp>
      <p:pic>
        <p:nvPicPr>
          <p:cNvPr id="4" name="Image 0" descr="/home/claude/pres/figures/gen_timing_decom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508760"/>
            <a:ext cx="7772400" cy="3931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503920" y="1554480"/>
            <a:ext cx="3383280" cy="3931920"/>
          </a:xfrm>
          <a:prstGeom prst="rect">
            <a:avLst/>
          </a:prstGeom>
          <a:solidFill>
            <a:srgbClr val="F0FDFA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0" y="17373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1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686800" y="20574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Don't pay spread you don't need.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0" y="2788920"/>
            <a:ext cx="3108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basket-vs-XLK premium from quotes only — never trade the names.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only the XLK leg when premium is extreme.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Round-trip cost collapses from ~108 bps to ~8 bps.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March OOS: +638 bps — replicates Jan/Feb sign.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576072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Caveat: this is a small-universe directional ETF strategy, not a market-neutral arbitrage. It still owes us robustness checks on quote depth, queue position, and selection of the basket weights.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FRE7121 — XLK Statistical Arbitrage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— PART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 the universe; tighten the microstructure model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532120" cy="2194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73152" cy="21945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37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20116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Top-20 / 6-month panel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2514600"/>
            <a:ext cx="502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8 names × 3 months to top-20 by liquidity × 6 months. The framework already accepts it — only the universe list, the date split, and the parquet path change.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1554480"/>
            <a:ext cx="5532120" cy="2194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1554480"/>
            <a:ext cx="73152" cy="219456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737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92240" y="20116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Liquidity &amp; spread filter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92240" y="2514600"/>
            <a:ext cx="502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names with median spread &gt; 10 bps from pair candidates. Keep the wide-spread names only inside the timing-extension basket signal.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5532120" cy="2194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886200"/>
            <a:ext cx="73152" cy="21945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069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" y="4343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Beyond top-of-book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77240" y="4846320"/>
            <a:ext cx="502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quote depth (bid_size, ask_size) and a micro-price (Stoikov 2018) instead of midpoint as the gross-P&amp;L reference. Spread-weighted residuals should narrow the noise.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3886200"/>
            <a:ext cx="5532120" cy="2194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63640" y="3886200"/>
            <a:ext cx="73152" cy="2194560"/>
          </a:xfrm>
          <a:prstGeom prst="rect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4069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92240" y="4343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Realistic fills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492240" y="4846320"/>
            <a:ext cx="502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latency, partial-fill probability proportional to top-of-book size, and a borrow-cost model on the short leg. This will likely move the ETF-only strategy down too.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FRE7121 — XLK Statistical Arbitrage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— PART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threshold rules to optimal market-making models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532120" cy="2194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73152" cy="21945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37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20116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Avellaneda–Stoikov optimal MM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2514600"/>
            <a:ext cx="502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fixed z-bands with reservation-price quoting. Inventory penalty γ and intensity κ make spread-capture endogenous to inventory risk. Becomes a market-making strategy, not just a stat-arb one.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1554480"/>
            <a:ext cx="5532120" cy="2194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1554480"/>
            <a:ext cx="73152" cy="219456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737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92240" y="20116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Dynamic hedge β (Kalman)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92240" y="2514600"/>
            <a:ext cx="502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Time-varying β instead of a January point estimate. Lets the cointegration relationship breathe across regimes — would have helped catch the Feb→Mar shift.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5532120" cy="2194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886200"/>
            <a:ext cx="73152" cy="21945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069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" y="4343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 / Avellaneda–Lee scoring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77240" y="4846320"/>
            <a:ext cx="502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each pair by its Ornstein–Uhlenbeck mean-reversion speed and signal-to-noise. Trade only pairs with statistically meaningful s-score, replacing the leaderboard heuristic.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3886200"/>
            <a:ext cx="5532120" cy="2194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63640" y="3886200"/>
            <a:ext cx="73152" cy="2194560"/>
          </a:xfrm>
          <a:prstGeom prst="rect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4069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92240" y="4343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Portfolio-level VaR + drawdown stop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492240" y="4846320"/>
            <a:ext cx="502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now each pair has its own stop. Add an aggregate inventory and DD constraint across pairs to prevent correlated losses on rebalancing days.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FRE7121 — XLK Statistical Arbitrage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THAT WILL DRIVE THE NEXT ITERATION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papers, mapped to specific changes in the project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11880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916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SELECTION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Avellaneda &amp; Lee (2010)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24028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arbitrage in the U.S. equities market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78892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Drop-in replacement for the leaderboard: compute the s-score on residuals, rank by it, retire pairs whose OU half-life &gt; horizon.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43400" y="1554480"/>
            <a:ext cx="3611880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16916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MM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26280" y="19202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Avellaneda &amp; Stoikov (2008)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26280" y="224028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 trading in a limit-order book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26280" y="278892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Inventory-aware quoting framework. Replaces fixed z-bands with reservation-price spread that reacts to current position and time-to-close.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38160" y="1554480"/>
            <a:ext cx="3611880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16916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FAIR-VALUE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321040" y="19202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Stoikov (2018)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21040" y="224028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Micro-Price: a high-frequency estimator of future prices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321040" y="278892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micro-price (size-weighted) instead of midpoint as the gross-P&amp;L reference. Should reduce the apparent midpoint–bidask gap that misled the original ORCL number.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931920"/>
            <a:ext cx="3611880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0690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31520" y="42976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Krauss (2017)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1520" y="461772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arbitrage pairs trading strategies — review and outlook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516636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of 5 pair-trading methodologies. Useful for justifying the cointegration choice and for adding a copula-based variant as a robustness check.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43400" y="3931920"/>
            <a:ext cx="3611880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26280" y="40690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26280" y="42976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Cartea, Jaimungal &amp; Penalva (2015)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26280" y="461772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 and High-Frequency Trading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26280" y="516636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reference for execution costs, optimal liquidation, and stochastic optimal control. Use Chapters 7–10 to formalise the cost model and the inventory-stopping rule.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138160" y="3931920"/>
            <a:ext cx="3611880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21040" y="40690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321040" y="42976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Almgren &amp; Chriss (2001)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321040" y="461772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execution of portfolio transactions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321040" y="516636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next phase trades larger size, slice every entry/exit using AC and add temporary + permanent impact terms to the cost model.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FRE7121 — XLK Statistical Arbitrage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61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deliverable was a strategy.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26060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contribution is a framework that knows when one is real.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388620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Walk-forward selection discipline — Jan / Feb / Mar with audit tags.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Bid/ask boundary execution model — same fills used for cost and gross.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pair result that survives the audit — a defensible empirical claim.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XLK-only timing extension that survives the audit — a real next-phase candidate.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5989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  ·  Questions welcome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 Making &amp; Statistical Arbitrage — XLK Microstructure Study</dc:title>
  <dc:subject>PptxGenJS Presentation</dc:subject>
  <dc:creator>FRE7121 Project</dc:creator>
  <cp:lastModifiedBy>FRE7121 Project</cp:lastModifiedBy>
  <cp:revision>1</cp:revision>
  <dcterms:created xsi:type="dcterms:W3CDTF">2026-05-04T22:46:37Z</dcterms:created>
  <dcterms:modified xsi:type="dcterms:W3CDTF">2026-05-04T22:46:37Z</dcterms:modified>
</cp:coreProperties>
</file>